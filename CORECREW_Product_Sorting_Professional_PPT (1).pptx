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94360"/>
            <a:ext cx="10789920" cy="640080"/>
          </a:xfrm>
          <a:prstGeom prst="rect">
            <a:avLst/>
          </a:prstGeom>
          <a:noFill/>
        </p:spPr>
        <p:txBody>
          <a:bodyPr wrap="none">
            <a:spAutoFit/>
          </a:bodyPr>
          <a:lstStyle/>
          <a:p>
            <a:pPr algn="ctr">
              <a:defRPr sz="2300" b="1">
                <a:solidFill>
                  <a:srgbClr val="FFFFFF"/>
                </a:solidFill>
              </a:defRPr>
            </a:pPr>
            <a:r>
              <a:t>VELALAR COLLEGE OF ENGINEERING AND TECHNOLOGY</a:t>
            </a:r>
          </a:p>
        </p:txBody>
      </p:sp>
      <p:sp>
        <p:nvSpPr>
          <p:cNvPr id="4" name="TextBox 3"/>
          <p:cNvSpPr txBox="1"/>
          <p:nvPr/>
        </p:nvSpPr>
        <p:spPr>
          <a:xfrm>
            <a:off x="914400" y="1600200"/>
            <a:ext cx="10332720" cy="1463040"/>
          </a:xfrm>
          <a:prstGeom prst="rect">
            <a:avLst/>
          </a:prstGeom>
          <a:noFill/>
        </p:spPr>
        <p:txBody>
          <a:bodyPr wrap="none">
            <a:spAutoFit/>
          </a:bodyPr>
          <a:lstStyle/>
          <a:p>
            <a:pPr algn="ctr">
              <a:defRPr sz="4200" b="1">
                <a:solidFill>
                  <a:srgbClr val="FFFFFF"/>
                </a:solidFill>
              </a:defRPr>
            </a:pPr>
            <a:r>
              <a:t>PRODUCT SORTING</a:t>
            </a:r>
          </a:p>
          <a:p>
            <a:pPr algn="ctr">
              <a:defRPr sz="2100">
                <a:solidFill>
                  <a:srgbClr val="D2E1F0"/>
                </a:solidFill>
              </a:defRPr>
            </a:pPr>
            <a:r>
              <a:t>Automatic Product Sorting System Using Arduino and RFID</a:t>
            </a:r>
          </a:p>
        </p:txBody>
      </p:sp>
      <p:sp>
        <p:nvSpPr>
          <p:cNvPr id="5" name="TextBox 4"/>
          <p:cNvSpPr txBox="1"/>
          <p:nvPr/>
        </p:nvSpPr>
        <p:spPr>
          <a:xfrm>
            <a:off x="1828800" y="3794760"/>
            <a:ext cx="8503920" cy="1463040"/>
          </a:xfrm>
          <a:prstGeom prst="rect">
            <a:avLst/>
          </a:prstGeom>
          <a:noFill/>
        </p:spPr>
        <p:txBody>
          <a:bodyPr wrap="none">
            <a:spAutoFit/>
          </a:bodyPr>
          <a:lstStyle/>
          <a:p>
            <a:pPr algn="ctr">
              <a:defRPr sz="2200" b="1">
                <a:solidFill>
                  <a:srgbClr val="FFFFFF"/>
                </a:solidFill>
              </a:defRPr>
            </a:pPr>
            <a:r>
              <a:t>TEAM CORECREW</a:t>
            </a:r>
          </a:p>
          <a:p>
            <a:pPr algn="ctr">
              <a:defRPr sz="1600">
                <a:solidFill>
                  <a:srgbClr val="FFFFFF"/>
                </a:solidFill>
              </a:defRPr>
            </a:pPr>
            <a:r>
              <a:t>M. Mithra  •  Subiksha S.  •  Aadhil Ahammed P. S.  •  Lalith P.</a:t>
            </a:r>
          </a:p>
          <a:p>
            <a:pPr algn="ctr">
              <a:defRPr sz="1500">
                <a:solidFill>
                  <a:srgbClr val="D2E1F0"/>
                </a:solidFill>
              </a:defRPr>
            </a:pPr>
            <a:r>
              <a:t>Department of Electrical and Electronics Engineering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none">
            <a:spAutoFit/>
          </a:bodyPr>
          <a:lstStyle/>
          <a:p>
            <a:pPr>
              <a:defRPr sz="2800" b="1">
                <a:solidFill>
                  <a:srgbClr val="132D4E"/>
                </a:solidFill>
              </a:defRPr>
            </a:pPr>
            <a:r>
              <a:t>PROBLEM STATEMENT</a:t>
            </a:r>
          </a:p>
        </p:txBody>
      </p:sp>
      <p:sp>
        <p:nvSpPr>
          <p:cNvPr id="4" name="Rectangle 3"/>
          <p:cNvSpPr/>
          <p:nvPr/>
        </p:nvSpPr>
        <p:spPr>
          <a:xfrm>
            <a:off x="594360" y="987552"/>
            <a:ext cx="1828800" cy="64008"/>
          </a:xfrm>
          <a:prstGeom prst="rect">
            <a:avLst/>
          </a:prstGeom>
          <a:solidFill>
            <a:srgbClr val="246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1508760"/>
            <a:ext cx="5303520" cy="4114800"/>
          </a:xfrm>
          <a:prstGeom prst="roundRect">
            <a:avLst/>
          </a:prstGeom>
          <a:solidFill>
            <a:srgbClr val="F2F6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lIns="164592" tIns="109728"/>
          <a:lstStyle/>
          <a:p>
            <a:pPr algn="ctr">
              <a:defRPr sz="1700" b="1">
                <a:solidFill>
                  <a:srgbClr val="132D4E"/>
                </a:solidFill>
              </a:defRPr>
            </a:pPr>
            <a:r>
              <a:t>Current Situation</a:t>
            </a:r>
          </a:p>
          <a:p>
            <a:pPr>
              <a:defRPr sz="1300">
                <a:solidFill>
                  <a:srgbClr val="23282D"/>
                </a:solidFill>
              </a:defRPr>
            </a:pPr>
            <a:r>
              <a:t>Courier and logistics services handle parcels for different destinations. Manual sorting can cause parcels to be mixed or placed in the wrong destination section.</a:t>
            </a:r>
          </a:p>
        </p:txBody>
      </p:sp>
      <p:sp>
        <p:nvSpPr>
          <p:cNvPr id="6" name="Rounded Rectangle 5"/>
          <p:cNvSpPr/>
          <p:nvPr/>
        </p:nvSpPr>
        <p:spPr>
          <a:xfrm>
            <a:off x="6217920" y="1508760"/>
            <a:ext cx="5257800" cy="4114800"/>
          </a:xfrm>
          <a:prstGeom prst="roundRect">
            <a:avLst/>
          </a:prstGeom>
          <a:solidFill>
            <a:srgbClr val="F2F6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lIns="164592" tIns="109728"/>
          <a:lstStyle/>
          <a:p>
            <a:pPr algn="ctr">
              <a:defRPr sz="1700" b="1">
                <a:solidFill>
                  <a:srgbClr val="132D4E"/>
                </a:solidFill>
              </a:defRPr>
            </a:pPr>
            <a:r>
              <a:t>Problems Identified</a:t>
            </a:r>
          </a:p>
          <a:p>
            <a:pPr>
              <a:defRPr sz="1300">
                <a:solidFill>
                  <a:srgbClr val="23282D"/>
                </a:solidFill>
              </a:defRPr>
            </a:pPr>
            <a:r>
              <a:t>• Manual sorting requires more time</a:t>
            </a:r>
            <a:br/>
            <a:r>
              <a:t>• Wrong destination placement may occur</a:t>
            </a:r>
            <a:br/>
            <a:r>
              <a:t>• Human errors can cause delivery delays</a:t>
            </a:r>
            <a:br/>
            <a:r>
              <a:t>• Large parcel volumes increase workload</a:t>
            </a:r>
            <a:br/>
            <a:r>
              <a:t>• Continuous manual checking requires more effort</a:t>
            </a:r>
          </a:p>
        </p:txBody>
      </p:sp>
      <p:sp>
        <p:nvSpPr>
          <p:cNvPr id="7" name="TextBox 6"/>
          <p:cNvSpPr txBox="1"/>
          <p:nvPr/>
        </p:nvSpPr>
        <p:spPr>
          <a:xfrm>
            <a:off x="594360" y="6446520"/>
            <a:ext cx="10972800" cy="228600"/>
          </a:xfrm>
          <a:prstGeom prst="rect">
            <a:avLst/>
          </a:prstGeom>
          <a:noFill/>
        </p:spPr>
        <p:txBody>
          <a:bodyPr wrap="none">
            <a:spAutoFit/>
          </a:bodyPr>
          <a:lstStyle/>
          <a:p>
            <a:pPr>
              <a:defRPr sz="900">
                <a:solidFill>
                  <a:srgbClr val="646C74"/>
                </a:solidFill>
              </a:defRPr>
            </a:pPr>
            <a:r>
              <a:t>CORECREW  |  EEE  |  PRODUCT SORTING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none">
            <a:spAutoFit/>
          </a:bodyPr>
          <a:lstStyle/>
          <a:p>
            <a:pPr>
              <a:defRPr sz="2800" b="1">
                <a:solidFill>
                  <a:srgbClr val="132D4E"/>
                </a:solidFill>
              </a:defRPr>
            </a:pPr>
            <a:r>
              <a:t>PROPOSED SOLUTION &amp; OBJECTIVES</a:t>
            </a:r>
          </a:p>
        </p:txBody>
      </p:sp>
      <p:sp>
        <p:nvSpPr>
          <p:cNvPr id="4" name="Rectangle 3"/>
          <p:cNvSpPr/>
          <p:nvPr/>
        </p:nvSpPr>
        <p:spPr>
          <a:xfrm>
            <a:off x="594360" y="987552"/>
            <a:ext cx="1828800" cy="64008"/>
          </a:xfrm>
          <a:prstGeom prst="rect">
            <a:avLst/>
          </a:prstGeom>
          <a:solidFill>
            <a:srgbClr val="246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1417320"/>
            <a:ext cx="6492240" cy="4389120"/>
          </a:xfrm>
          <a:prstGeom prst="roundRect">
            <a:avLst/>
          </a:prstGeom>
          <a:solidFill>
            <a:srgbClr val="F2F6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lIns="164592" tIns="109728"/>
          <a:lstStyle/>
          <a:p>
            <a:pPr algn="ctr">
              <a:defRPr sz="1700" b="1">
                <a:solidFill>
                  <a:srgbClr val="132D4E"/>
                </a:solidFill>
              </a:defRPr>
            </a:pPr>
            <a:r>
              <a:t>Proposed Solution</a:t>
            </a:r>
          </a:p>
          <a:p>
            <a:pPr>
              <a:defRPr sz="1300">
                <a:solidFill>
                  <a:srgbClr val="23282D"/>
                </a:solidFill>
              </a:defRPr>
            </a:pPr>
            <a:r>
              <a:t>We developed an Automatic Product Sorting System using Arduino Uno, RFID and Servo Motor. The RFID reader identifies the parcel, Arduino processes the destination, and the servo motor directs the parcel to the corresponding section.</a:t>
            </a:r>
          </a:p>
        </p:txBody>
      </p:sp>
      <p:sp>
        <p:nvSpPr>
          <p:cNvPr id="6" name="Rounded Rectangle 5"/>
          <p:cNvSpPr/>
          <p:nvPr/>
        </p:nvSpPr>
        <p:spPr>
          <a:xfrm>
            <a:off x="7406640" y="1417320"/>
            <a:ext cx="4069080" cy="4389120"/>
          </a:xfrm>
          <a:prstGeom prst="roundRect">
            <a:avLst/>
          </a:prstGeom>
          <a:solidFill>
            <a:srgbClr val="F2F6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lIns="164592" tIns="109728"/>
          <a:lstStyle/>
          <a:p>
            <a:pPr algn="ctr">
              <a:defRPr sz="1700" b="1">
                <a:solidFill>
                  <a:srgbClr val="132D4E"/>
                </a:solidFill>
              </a:defRPr>
            </a:pPr>
            <a:r>
              <a:t>Objectives</a:t>
            </a:r>
          </a:p>
          <a:p>
            <a:pPr>
              <a:defRPr sz="1300">
                <a:solidFill>
                  <a:srgbClr val="23282D"/>
                </a:solidFill>
              </a:defRPr>
            </a:pPr>
            <a:r>
              <a:t>• Automate parcel sorting</a:t>
            </a:r>
            <a:br/>
            <a:r>
              <a:t>• Reduce manual effort</a:t>
            </a:r>
            <a:br/>
            <a:r>
              <a:t>• Reduce parcel mix-ups</a:t>
            </a:r>
            <a:br/>
            <a:r>
              <a:t>• Minimize sorting errors</a:t>
            </a:r>
            <a:br/>
            <a:r>
              <a:t>• Improve sorting efficiency</a:t>
            </a:r>
            <a:br/>
            <a:r>
              <a:t>• Ensure correct destination placement</a:t>
            </a:r>
          </a:p>
        </p:txBody>
      </p:sp>
      <p:sp>
        <p:nvSpPr>
          <p:cNvPr id="7" name="TextBox 6"/>
          <p:cNvSpPr txBox="1"/>
          <p:nvPr/>
        </p:nvSpPr>
        <p:spPr>
          <a:xfrm>
            <a:off x="594360" y="6446520"/>
            <a:ext cx="10972800" cy="228600"/>
          </a:xfrm>
          <a:prstGeom prst="rect">
            <a:avLst/>
          </a:prstGeom>
          <a:noFill/>
        </p:spPr>
        <p:txBody>
          <a:bodyPr wrap="none">
            <a:spAutoFit/>
          </a:bodyPr>
          <a:lstStyle/>
          <a:p>
            <a:pPr>
              <a:defRPr sz="900">
                <a:solidFill>
                  <a:srgbClr val="646C74"/>
                </a:solidFill>
              </a:defRPr>
            </a:pPr>
            <a:r>
              <a:t>CORECREW  |  EEE  |  PRODUCT SORTING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none">
            <a:spAutoFit/>
          </a:bodyPr>
          <a:lstStyle/>
          <a:p>
            <a:pPr>
              <a:defRPr sz="2800" b="1">
                <a:solidFill>
                  <a:srgbClr val="132D4E"/>
                </a:solidFill>
              </a:defRPr>
            </a:pPr>
            <a:r>
              <a:t>HARDWARE COMPONENTS</a:t>
            </a:r>
          </a:p>
        </p:txBody>
      </p:sp>
      <p:sp>
        <p:nvSpPr>
          <p:cNvPr id="4" name="Rectangle 3"/>
          <p:cNvSpPr/>
          <p:nvPr/>
        </p:nvSpPr>
        <p:spPr>
          <a:xfrm>
            <a:off x="594360" y="987552"/>
            <a:ext cx="1828800" cy="64008"/>
          </a:xfrm>
          <a:prstGeom prst="rect">
            <a:avLst/>
          </a:prstGeom>
          <a:solidFill>
            <a:srgbClr val="246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1325880"/>
            <a:ext cx="5166360" cy="960120"/>
          </a:xfrm>
          <a:prstGeom prst="roundRect">
            <a:avLst/>
          </a:prstGeom>
          <a:solidFill>
            <a:srgbClr val="F2F6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lIns="164592" tIns="109728"/>
          <a:lstStyle/>
          <a:p>
            <a:pPr algn="ctr">
              <a:defRPr sz="1700" b="1">
                <a:solidFill>
                  <a:srgbClr val="132D4E"/>
                </a:solidFill>
              </a:defRPr>
            </a:pPr>
            <a:r>
              <a:t>Arduino Uno</a:t>
            </a:r>
          </a:p>
          <a:p>
            <a:pPr>
              <a:defRPr sz="1300">
                <a:solidFill>
                  <a:srgbClr val="23282D"/>
                </a:solidFill>
              </a:defRPr>
            </a:pPr>
            <a:r>
              <a:t>Main controller</a:t>
            </a:r>
          </a:p>
        </p:txBody>
      </p:sp>
      <p:sp>
        <p:nvSpPr>
          <p:cNvPr id="6" name="Rounded Rectangle 5"/>
          <p:cNvSpPr/>
          <p:nvPr/>
        </p:nvSpPr>
        <p:spPr>
          <a:xfrm>
            <a:off x="6217920" y="1325880"/>
            <a:ext cx="5166360" cy="960120"/>
          </a:xfrm>
          <a:prstGeom prst="roundRect">
            <a:avLst/>
          </a:prstGeom>
          <a:solidFill>
            <a:srgbClr val="F2F6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lIns="164592" tIns="109728"/>
          <a:lstStyle/>
          <a:p>
            <a:pPr algn="ctr">
              <a:defRPr sz="1700" b="1">
                <a:solidFill>
                  <a:srgbClr val="132D4E"/>
                </a:solidFill>
              </a:defRPr>
            </a:pPr>
            <a:r>
              <a:t>RFID RC522</a:t>
            </a:r>
          </a:p>
          <a:p>
            <a:pPr>
              <a:defRPr sz="1300">
                <a:solidFill>
                  <a:srgbClr val="23282D"/>
                </a:solidFill>
              </a:defRPr>
            </a:pPr>
            <a:r>
              <a:t>Reads parcel RFID tag</a:t>
            </a:r>
          </a:p>
        </p:txBody>
      </p:sp>
      <p:sp>
        <p:nvSpPr>
          <p:cNvPr id="7" name="Rounded Rectangle 6"/>
          <p:cNvSpPr/>
          <p:nvPr/>
        </p:nvSpPr>
        <p:spPr>
          <a:xfrm>
            <a:off x="685800" y="2496312"/>
            <a:ext cx="5166360" cy="960120"/>
          </a:xfrm>
          <a:prstGeom prst="roundRect">
            <a:avLst/>
          </a:prstGeom>
          <a:solidFill>
            <a:srgbClr val="F2F6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lIns="164592" tIns="109728"/>
          <a:lstStyle/>
          <a:p>
            <a:pPr algn="ctr">
              <a:defRPr sz="1700" b="1">
                <a:solidFill>
                  <a:srgbClr val="132D4E"/>
                </a:solidFill>
              </a:defRPr>
            </a:pPr>
            <a:r>
              <a:t>RFID Tags</a:t>
            </a:r>
          </a:p>
          <a:p>
            <a:pPr>
              <a:defRPr sz="1300">
                <a:solidFill>
                  <a:srgbClr val="23282D"/>
                </a:solidFill>
              </a:defRPr>
            </a:pPr>
            <a:r>
              <a:t>Unique parcel identification</a:t>
            </a:r>
          </a:p>
        </p:txBody>
      </p:sp>
      <p:sp>
        <p:nvSpPr>
          <p:cNvPr id="8" name="Rounded Rectangle 7"/>
          <p:cNvSpPr/>
          <p:nvPr/>
        </p:nvSpPr>
        <p:spPr>
          <a:xfrm>
            <a:off x="6217920" y="2496312"/>
            <a:ext cx="5166360" cy="960120"/>
          </a:xfrm>
          <a:prstGeom prst="roundRect">
            <a:avLst/>
          </a:prstGeom>
          <a:solidFill>
            <a:srgbClr val="F2F6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lIns="164592" tIns="109728"/>
          <a:lstStyle/>
          <a:p>
            <a:pPr algn="ctr">
              <a:defRPr sz="1700" b="1">
                <a:solidFill>
                  <a:srgbClr val="132D4E"/>
                </a:solidFill>
              </a:defRPr>
            </a:pPr>
            <a:r>
              <a:t>Servo Motor</a:t>
            </a:r>
          </a:p>
          <a:p>
            <a:pPr>
              <a:defRPr sz="1300">
                <a:solidFill>
                  <a:srgbClr val="23282D"/>
                </a:solidFill>
              </a:defRPr>
            </a:pPr>
            <a:r>
              <a:t>Controls sorting mechanism</a:t>
            </a:r>
          </a:p>
        </p:txBody>
      </p:sp>
      <p:sp>
        <p:nvSpPr>
          <p:cNvPr id="9" name="Rounded Rectangle 8"/>
          <p:cNvSpPr/>
          <p:nvPr/>
        </p:nvSpPr>
        <p:spPr>
          <a:xfrm>
            <a:off x="685800" y="3666744"/>
            <a:ext cx="5166360" cy="960120"/>
          </a:xfrm>
          <a:prstGeom prst="roundRect">
            <a:avLst/>
          </a:prstGeom>
          <a:solidFill>
            <a:srgbClr val="F2F6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lIns="164592" tIns="109728"/>
          <a:lstStyle/>
          <a:p>
            <a:pPr algn="ctr">
              <a:defRPr sz="1700" b="1">
                <a:solidFill>
                  <a:srgbClr val="132D4E"/>
                </a:solidFill>
              </a:defRPr>
            </a:pPr>
            <a:r>
              <a:t>Conveyor / Platform</a:t>
            </a:r>
          </a:p>
          <a:p>
            <a:pPr>
              <a:defRPr sz="1300">
                <a:solidFill>
                  <a:srgbClr val="23282D"/>
                </a:solidFill>
              </a:defRPr>
            </a:pPr>
            <a:r>
              <a:t>Supports or moves parcel</a:t>
            </a:r>
          </a:p>
        </p:txBody>
      </p:sp>
      <p:sp>
        <p:nvSpPr>
          <p:cNvPr id="10" name="Rounded Rectangle 9"/>
          <p:cNvSpPr/>
          <p:nvPr/>
        </p:nvSpPr>
        <p:spPr>
          <a:xfrm>
            <a:off x="6217920" y="3666744"/>
            <a:ext cx="5166360" cy="960120"/>
          </a:xfrm>
          <a:prstGeom prst="roundRect">
            <a:avLst/>
          </a:prstGeom>
          <a:solidFill>
            <a:srgbClr val="F2F6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lIns="164592" tIns="109728"/>
          <a:lstStyle/>
          <a:p>
            <a:pPr algn="ctr">
              <a:defRPr sz="1700" b="1">
                <a:solidFill>
                  <a:srgbClr val="132D4E"/>
                </a:solidFill>
              </a:defRPr>
            </a:pPr>
            <a:r>
              <a:t>DC Motor / Driver</a:t>
            </a:r>
          </a:p>
          <a:p>
            <a:pPr>
              <a:defRPr sz="1300">
                <a:solidFill>
                  <a:srgbClr val="23282D"/>
                </a:solidFill>
              </a:defRPr>
            </a:pPr>
            <a:r>
              <a:t>Conveyor drive, if used</a:t>
            </a:r>
          </a:p>
        </p:txBody>
      </p:sp>
      <p:sp>
        <p:nvSpPr>
          <p:cNvPr id="11" name="Rounded Rectangle 10"/>
          <p:cNvSpPr/>
          <p:nvPr/>
        </p:nvSpPr>
        <p:spPr>
          <a:xfrm>
            <a:off x="685800" y="4837176"/>
            <a:ext cx="5166360" cy="960120"/>
          </a:xfrm>
          <a:prstGeom prst="roundRect">
            <a:avLst/>
          </a:prstGeom>
          <a:solidFill>
            <a:srgbClr val="F2F6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lIns="164592" tIns="109728"/>
          <a:lstStyle/>
          <a:p>
            <a:pPr algn="ctr">
              <a:defRPr sz="1700" b="1">
                <a:solidFill>
                  <a:srgbClr val="132D4E"/>
                </a:solidFill>
              </a:defRPr>
            </a:pPr>
            <a:r>
              <a:t>Power Supply</a:t>
            </a:r>
          </a:p>
          <a:p>
            <a:pPr>
              <a:defRPr sz="1300">
                <a:solidFill>
                  <a:srgbClr val="23282D"/>
                </a:solidFill>
              </a:defRPr>
            </a:pPr>
            <a:r>
              <a:t>Provides electrical power</a:t>
            </a:r>
          </a:p>
        </p:txBody>
      </p:sp>
      <p:sp>
        <p:nvSpPr>
          <p:cNvPr id="12" name="Rounded Rectangle 11"/>
          <p:cNvSpPr/>
          <p:nvPr/>
        </p:nvSpPr>
        <p:spPr>
          <a:xfrm>
            <a:off x="6217920" y="4837176"/>
            <a:ext cx="5166360" cy="960120"/>
          </a:xfrm>
          <a:prstGeom prst="roundRect">
            <a:avLst/>
          </a:prstGeom>
          <a:solidFill>
            <a:srgbClr val="F2F6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lIns="164592" tIns="109728"/>
          <a:lstStyle/>
          <a:p>
            <a:pPr algn="ctr">
              <a:defRPr sz="1700" b="1">
                <a:solidFill>
                  <a:srgbClr val="132D4E"/>
                </a:solidFill>
              </a:defRPr>
            </a:pPr>
            <a:r>
              <a:t>Connecting Wires</a:t>
            </a:r>
          </a:p>
          <a:p>
            <a:pPr>
              <a:defRPr sz="1300">
                <a:solidFill>
                  <a:srgbClr val="23282D"/>
                </a:solidFill>
              </a:defRPr>
            </a:pPr>
            <a:r>
              <a:t>Electrical connections</a:t>
            </a:r>
          </a:p>
        </p:txBody>
      </p:sp>
      <p:sp>
        <p:nvSpPr>
          <p:cNvPr id="13" name="TextBox 12"/>
          <p:cNvSpPr txBox="1"/>
          <p:nvPr/>
        </p:nvSpPr>
        <p:spPr>
          <a:xfrm>
            <a:off x="594360" y="6446520"/>
            <a:ext cx="10972800" cy="228600"/>
          </a:xfrm>
          <a:prstGeom prst="rect">
            <a:avLst/>
          </a:prstGeom>
          <a:noFill/>
        </p:spPr>
        <p:txBody>
          <a:bodyPr wrap="none">
            <a:spAutoFit/>
          </a:bodyPr>
          <a:lstStyle/>
          <a:p>
            <a:pPr>
              <a:defRPr sz="900">
                <a:solidFill>
                  <a:srgbClr val="646C74"/>
                </a:solidFill>
              </a:defRPr>
            </a:pPr>
            <a:r>
              <a:t>CORECREW  |  EEE  |  PRODUCT SORTING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none">
            <a:spAutoFit/>
          </a:bodyPr>
          <a:lstStyle/>
          <a:p>
            <a:pPr>
              <a:defRPr sz="2800" b="1">
                <a:solidFill>
                  <a:srgbClr val="132D4E"/>
                </a:solidFill>
              </a:defRPr>
            </a:pPr>
            <a:r>
              <a:t>SYSTEM BLOCK DIAGRAM</a:t>
            </a:r>
          </a:p>
        </p:txBody>
      </p:sp>
      <p:sp>
        <p:nvSpPr>
          <p:cNvPr id="4" name="Rectangle 3"/>
          <p:cNvSpPr/>
          <p:nvPr/>
        </p:nvSpPr>
        <p:spPr>
          <a:xfrm>
            <a:off x="594360" y="987552"/>
            <a:ext cx="1828800" cy="64008"/>
          </a:xfrm>
          <a:prstGeom prst="rect">
            <a:avLst/>
          </a:prstGeom>
          <a:solidFill>
            <a:srgbClr val="246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645920"/>
            <a:ext cx="1600200" cy="777240"/>
          </a:xfrm>
          <a:prstGeom prst="roundRect">
            <a:avLst/>
          </a:prstGeom>
          <a:solidFill>
            <a:srgbClr val="F2F6FA"/>
          </a:solidFill>
          <a:ln>
            <a:solidFill>
              <a:srgbClr val="2463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132D4E"/>
                </a:solidFill>
              </a:defRPr>
            </a:pPr>
            <a:r>
              <a:t>PARCEL</a:t>
            </a:r>
          </a:p>
        </p:txBody>
      </p:sp>
      <p:sp>
        <p:nvSpPr>
          <p:cNvPr id="6" name="Rounded Rectangle 5"/>
          <p:cNvSpPr/>
          <p:nvPr/>
        </p:nvSpPr>
        <p:spPr>
          <a:xfrm>
            <a:off x="2743200" y="1645920"/>
            <a:ext cx="1600200" cy="777240"/>
          </a:xfrm>
          <a:prstGeom prst="roundRect">
            <a:avLst/>
          </a:prstGeom>
          <a:solidFill>
            <a:srgbClr val="F2F6FA"/>
          </a:solidFill>
          <a:ln>
            <a:solidFill>
              <a:srgbClr val="2463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132D4E"/>
                </a:solidFill>
              </a:defRPr>
            </a:pPr>
            <a:r>
              <a:t>RFID RC522</a:t>
            </a:r>
          </a:p>
        </p:txBody>
      </p:sp>
      <p:sp>
        <p:nvSpPr>
          <p:cNvPr id="7" name="Rounded Rectangle 6"/>
          <p:cNvSpPr/>
          <p:nvPr/>
        </p:nvSpPr>
        <p:spPr>
          <a:xfrm>
            <a:off x="4983480" y="1645920"/>
            <a:ext cx="1600200" cy="777240"/>
          </a:xfrm>
          <a:prstGeom prst="roundRect">
            <a:avLst/>
          </a:prstGeom>
          <a:solidFill>
            <a:srgbClr val="F2F6FA"/>
          </a:solidFill>
          <a:ln>
            <a:solidFill>
              <a:srgbClr val="2463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132D4E"/>
                </a:solidFill>
              </a:defRPr>
            </a:pPr>
            <a:r>
              <a:t>ARDUINO UNO</a:t>
            </a:r>
          </a:p>
        </p:txBody>
      </p:sp>
      <p:sp>
        <p:nvSpPr>
          <p:cNvPr id="8" name="Rounded Rectangle 7"/>
          <p:cNvSpPr/>
          <p:nvPr/>
        </p:nvSpPr>
        <p:spPr>
          <a:xfrm>
            <a:off x="7269480" y="1645920"/>
            <a:ext cx="1600200" cy="777240"/>
          </a:xfrm>
          <a:prstGeom prst="roundRect">
            <a:avLst/>
          </a:prstGeom>
          <a:solidFill>
            <a:srgbClr val="F2F6FA"/>
          </a:solidFill>
          <a:ln>
            <a:solidFill>
              <a:srgbClr val="2463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132D4E"/>
                </a:solidFill>
              </a:defRPr>
            </a:pPr>
            <a:r>
              <a:t>DESTINATION</a:t>
            </a:r>
            <a:br/>
            <a:r>
              <a:t>CHECK</a:t>
            </a:r>
          </a:p>
        </p:txBody>
      </p:sp>
      <p:sp>
        <p:nvSpPr>
          <p:cNvPr id="9" name="Rounded Rectangle 8"/>
          <p:cNvSpPr/>
          <p:nvPr/>
        </p:nvSpPr>
        <p:spPr>
          <a:xfrm>
            <a:off x="9509760" y="1645920"/>
            <a:ext cx="1600200" cy="777240"/>
          </a:xfrm>
          <a:prstGeom prst="roundRect">
            <a:avLst/>
          </a:prstGeom>
          <a:solidFill>
            <a:srgbClr val="F2F6FA"/>
          </a:solidFill>
          <a:ln>
            <a:solidFill>
              <a:srgbClr val="2463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132D4E"/>
                </a:solidFill>
              </a:defRPr>
            </a:pPr>
            <a:r>
              <a:t>SERVO MOTOR</a:t>
            </a:r>
          </a:p>
        </p:txBody>
      </p:sp>
      <p:sp>
        <p:nvSpPr>
          <p:cNvPr id="10" name="Right Arrow 9"/>
          <p:cNvSpPr/>
          <p:nvPr/>
        </p:nvSpPr>
        <p:spPr>
          <a:xfrm>
            <a:off x="2240280" y="1847088"/>
            <a:ext cx="411480" cy="365760"/>
          </a:xfrm>
          <a:prstGeom prst="rightArrow">
            <a:avLst/>
          </a:prstGeom>
          <a:solidFill>
            <a:srgbClr val="246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ight Arrow 10"/>
          <p:cNvSpPr/>
          <p:nvPr/>
        </p:nvSpPr>
        <p:spPr>
          <a:xfrm>
            <a:off x="4480560" y="1847088"/>
            <a:ext cx="411480" cy="365760"/>
          </a:xfrm>
          <a:prstGeom prst="rightArrow">
            <a:avLst/>
          </a:prstGeom>
          <a:solidFill>
            <a:srgbClr val="246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6766560" y="1847088"/>
            <a:ext cx="411480" cy="365760"/>
          </a:xfrm>
          <a:prstGeom prst="rightArrow">
            <a:avLst/>
          </a:prstGeom>
          <a:solidFill>
            <a:srgbClr val="246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Arrow 12"/>
          <p:cNvSpPr/>
          <p:nvPr/>
        </p:nvSpPr>
        <p:spPr>
          <a:xfrm>
            <a:off x="9006840" y="1847088"/>
            <a:ext cx="411480" cy="365760"/>
          </a:xfrm>
          <a:prstGeom prst="rightArrow">
            <a:avLst/>
          </a:prstGeom>
          <a:solidFill>
            <a:srgbClr val="246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828800" y="3794760"/>
            <a:ext cx="2011680" cy="822960"/>
          </a:xfrm>
          <a:prstGeom prst="roundRect">
            <a:avLst/>
          </a:prstGeom>
          <a:solidFill>
            <a:srgbClr val="F2F6FA"/>
          </a:solidFill>
          <a:ln>
            <a:solidFill>
              <a:srgbClr val="2463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132D4E"/>
                </a:solidFill>
              </a:defRPr>
            </a:pPr>
            <a:r>
              <a:t>ERODE SECTION</a:t>
            </a:r>
          </a:p>
        </p:txBody>
      </p:sp>
      <p:sp>
        <p:nvSpPr>
          <p:cNvPr id="15" name="Rounded Rectangle 14"/>
          <p:cNvSpPr/>
          <p:nvPr/>
        </p:nvSpPr>
        <p:spPr>
          <a:xfrm>
            <a:off x="4892040" y="3794760"/>
            <a:ext cx="2011680" cy="822960"/>
          </a:xfrm>
          <a:prstGeom prst="roundRect">
            <a:avLst/>
          </a:prstGeom>
          <a:solidFill>
            <a:srgbClr val="F2F6FA"/>
          </a:solidFill>
          <a:ln>
            <a:solidFill>
              <a:srgbClr val="2463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132D4E"/>
                </a:solidFill>
              </a:defRPr>
            </a:pPr>
            <a:r>
              <a:t>SALEM SECTION</a:t>
            </a:r>
          </a:p>
        </p:txBody>
      </p:sp>
      <p:sp>
        <p:nvSpPr>
          <p:cNvPr id="16" name="Rounded Rectangle 15"/>
          <p:cNvSpPr/>
          <p:nvPr/>
        </p:nvSpPr>
        <p:spPr>
          <a:xfrm>
            <a:off x="7955279" y="3794760"/>
            <a:ext cx="2011680" cy="822960"/>
          </a:xfrm>
          <a:prstGeom prst="roundRect">
            <a:avLst/>
          </a:prstGeom>
          <a:solidFill>
            <a:srgbClr val="F2F6FA"/>
          </a:solidFill>
          <a:ln>
            <a:solidFill>
              <a:srgbClr val="2463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132D4E"/>
                </a:solidFill>
              </a:defRPr>
            </a:pPr>
            <a:r>
              <a:t>COIMBATORE SECTION</a:t>
            </a:r>
          </a:p>
        </p:txBody>
      </p:sp>
      <p:sp>
        <p:nvSpPr>
          <p:cNvPr id="17" name="TextBox 16"/>
          <p:cNvSpPr txBox="1"/>
          <p:nvPr/>
        </p:nvSpPr>
        <p:spPr>
          <a:xfrm>
            <a:off x="2743200" y="2743200"/>
            <a:ext cx="6858000" cy="457200"/>
          </a:xfrm>
          <a:prstGeom prst="rect">
            <a:avLst/>
          </a:prstGeom>
          <a:noFill/>
        </p:spPr>
        <p:txBody>
          <a:bodyPr wrap="none">
            <a:spAutoFit/>
          </a:bodyPr>
          <a:lstStyle/>
          <a:p>
            <a:pPr algn="ctr">
              <a:defRPr sz="1600" b="1">
                <a:solidFill>
                  <a:srgbClr val="132D4E"/>
                </a:solidFill>
              </a:defRPr>
            </a:pPr>
            <a:r>
              <a:t>RFID Detection  →  Arduino Processing  →  Destination Identification  →  Servo Sorting</a:t>
            </a:r>
          </a:p>
        </p:txBody>
      </p:sp>
      <p:sp>
        <p:nvSpPr>
          <p:cNvPr id="18" name="TextBox 17"/>
          <p:cNvSpPr txBox="1"/>
          <p:nvPr/>
        </p:nvSpPr>
        <p:spPr>
          <a:xfrm>
            <a:off x="594360" y="6446520"/>
            <a:ext cx="10972800" cy="228600"/>
          </a:xfrm>
          <a:prstGeom prst="rect">
            <a:avLst/>
          </a:prstGeom>
          <a:noFill/>
        </p:spPr>
        <p:txBody>
          <a:bodyPr wrap="none">
            <a:spAutoFit/>
          </a:bodyPr>
          <a:lstStyle/>
          <a:p>
            <a:pPr>
              <a:defRPr sz="900">
                <a:solidFill>
                  <a:srgbClr val="646C74"/>
                </a:solidFill>
              </a:defRPr>
            </a:pPr>
            <a:r>
              <a:t>CORECREW  |  EEE  |  PRODUCT SORTING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none">
            <a:spAutoFit/>
          </a:bodyPr>
          <a:lstStyle/>
          <a:p>
            <a:pPr>
              <a:defRPr sz="2800" b="1">
                <a:solidFill>
                  <a:srgbClr val="132D4E"/>
                </a:solidFill>
              </a:defRPr>
            </a:pPr>
            <a:r>
              <a:t>WORKING PRINCIPLE</a:t>
            </a:r>
          </a:p>
        </p:txBody>
      </p:sp>
      <p:sp>
        <p:nvSpPr>
          <p:cNvPr id="4" name="Rectangle 3"/>
          <p:cNvSpPr/>
          <p:nvPr/>
        </p:nvSpPr>
        <p:spPr>
          <a:xfrm>
            <a:off x="594360" y="987552"/>
            <a:ext cx="1828800" cy="64008"/>
          </a:xfrm>
          <a:prstGeom prst="rect">
            <a:avLst/>
          </a:prstGeom>
          <a:solidFill>
            <a:srgbClr val="246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1325880"/>
            <a:ext cx="5166360" cy="914400"/>
          </a:xfrm>
          <a:prstGeom prst="roundRect">
            <a:avLst/>
          </a:prstGeom>
          <a:solidFill>
            <a:srgbClr val="F2F6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lIns="164592" tIns="109728"/>
          <a:lstStyle/>
          <a:p>
            <a:pPr algn="ctr">
              <a:defRPr sz="1700" b="1">
                <a:solidFill>
                  <a:srgbClr val="132D4E"/>
                </a:solidFill>
              </a:defRPr>
            </a:pPr>
            <a:r>
              <a:t>1</a:t>
            </a:r>
          </a:p>
          <a:p>
            <a:pPr>
              <a:defRPr sz="1300">
                <a:solidFill>
                  <a:srgbClr val="23282D"/>
                </a:solidFill>
              </a:defRPr>
            </a:pPr>
            <a:r>
              <a:t>Parcel is placed on the sorting platform.</a:t>
            </a:r>
          </a:p>
        </p:txBody>
      </p:sp>
      <p:sp>
        <p:nvSpPr>
          <p:cNvPr id="6" name="Rounded Rectangle 5"/>
          <p:cNvSpPr/>
          <p:nvPr/>
        </p:nvSpPr>
        <p:spPr>
          <a:xfrm>
            <a:off x="685800" y="2468880"/>
            <a:ext cx="5166360" cy="914400"/>
          </a:xfrm>
          <a:prstGeom prst="roundRect">
            <a:avLst/>
          </a:prstGeom>
          <a:solidFill>
            <a:srgbClr val="F2F6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lIns="164592" tIns="109728"/>
          <a:lstStyle/>
          <a:p>
            <a:pPr algn="ctr">
              <a:defRPr sz="1700" b="1">
                <a:solidFill>
                  <a:srgbClr val="132D4E"/>
                </a:solidFill>
              </a:defRPr>
            </a:pPr>
            <a:r>
              <a:t>2</a:t>
            </a:r>
          </a:p>
          <a:p>
            <a:pPr>
              <a:defRPr sz="1300">
                <a:solidFill>
                  <a:srgbClr val="23282D"/>
                </a:solidFill>
              </a:defRPr>
            </a:pPr>
            <a:r>
              <a:t>RFID RC522 detects the RFID tag.</a:t>
            </a:r>
          </a:p>
        </p:txBody>
      </p:sp>
      <p:sp>
        <p:nvSpPr>
          <p:cNvPr id="7" name="Rounded Rectangle 6"/>
          <p:cNvSpPr/>
          <p:nvPr/>
        </p:nvSpPr>
        <p:spPr>
          <a:xfrm>
            <a:off x="685800" y="3611880"/>
            <a:ext cx="5166360" cy="914400"/>
          </a:xfrm>
          <a:prstGeom prst="roundRect">
            <a:avLst/>
          </a:prstGeom>
          <a:solidFill>
            <a:srgbClr val="F2F6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lIns="164592" tIns="109728"/>
          <a:lstStyle/>
          <a:p>
            <a:pPr algn="ctr">
              <a:defRPr sz="1700" b="1">
                <a:solidFill>
                  <a:srgbClr val="132D4E"/>
                </a:solidFill>
              </a:defRPr>
            </a:pPr>
            <a:r>
              <a:t>3</a:t>
            </a:r>
          </a:p>
          <a:p>
            <a:pPr>
              <a:defRPr sz="1300">
                <a:solidFill>
                  <a:srgbClr val="23282D"/>
                </a:solidFill>
              </a:defRPr>
            </a:pPr>
            <a:r>
              <a:t>RFID UID is sent to Arduino Uno.</a:t>
            </a:r>
          </a:p>
        </p:txBody>
      </p:sp>
      <p:sp>
        <p:nvSpPr>
          <p:cNvPr id="8" name="Rounded Rectangle 7"/>
          <p:cNvSpPr/>
          <p:nvPr/>
        </p:nvSpPr>
        <p:spPr>
          <a:xfrm>
            <a:off x="685800" y="4754880"/>
            <a:ext cx="5166360" cy="914400"/>
          </a:xfrm>
          <a:prstGeom prst="roundRect">
            <a:avLst/>
          </a:prstGeom>
          <a:solidFill>
            <a:srgbClr val="F2F6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lIns="164592" tIns="109728"/>
          <a:lstStyle/>
          <a:p>
            <a:pPr algn="ctr">
              <a:defRPr sz="1700" b="1">
                <a:solidFill>
                  <a:srgbClr val="132D4E"/>
                </a:solidFill>
              </a:defRPr>
            </a:pPr>
            <a:r>
              <a:t>4</a:t>
            </a:r>
          </a:p>
          <a:p>
            <a:pPr>
              <a:defRPr sz="1300">
                <a:solidFill>
                  <a:srgbClr val="23282D"/>
                </a:solidFill>
              </a:defRPr>
            </a:pPr>
            <a:r>
              <a:t>Arduino compares the UID with the programmed destination.</a:t>
            </a:r>
          </a:p>
        </p:txBody>
      </p:sp>
      <p:sp>
        <p:nvSpPr>
          <p:cNvPr id="9" name="Rounded Rectangle 8"/>
          <p:cNvSpPr/>
          <p:nvPr/>
        </p:nvSpPr>
        <p:spPr>
          <a:xfrm>
            <a:off x="6217920" y="1325880"/>
            <a:ext cx="5166360" cy="914400"/>
          </a:xfrm>
          <a:prstGeom prst="roundRect">
            <a:avLst/>
          </a:prstGeom>
          <a:solidFill>
            <a:srgbClr val="F2F6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lIns="164592" tIns="109728"/>
          <a:lstStyle/>
          <a:p>
            <a:pPr algn="ctr">
              <a:defRPr sz="1700" b="1">
                <a:solidFill>
                  <a:srgbClr val="132D4E"/>
                </a:solidFill>
              </a:defRPr>
            </a:pPr>
            <a:r>
              <a:t>5</a:t>
            </a:r>
          </a:p>
          <a:p>
            <a:pPr>
              <a:defRPr sz="1300">
                <a:solidFill>
                  <a:srgbClr val="23282D"/>
                </a:solidFill>
              </a:defRPr>
            </a:pPr>
            <a:r>
              <a:t>Arduino sends a control signal to the servo motor.</a:t>
            </a:r>
          </a:p>
        </p:txBody>
      </p:sp>
      <p:sp>
        <p:nvSpPr>
          <p:cNvPr id="10" name="Rounded Rectangle 9"/>
          <p:cNvSpPr/>
          <p:nvPr/>
        </p:nvSpPr>
        <p:spPr>
          <a:xfrm>
            <a:off x="6217920" y="2468880"/>
            <a:ext cx="5166360" cy="914400"/>
          </a:xfrm>
          <a:prstGeom prst="roundRect">
            <a:avLst/>
          </a:prstGeom>
          <a:solidFill>
            <a:srgbClr val="F2F6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lIns="164592" tIns="109728"/>
          <a:lstStyle/>
          <a:p>
            <a:pPr algn="ctr">
              <a:defRPr sz="1700" b="1">
                <a:solidFill>
                  <a:srgbClr val="132D4E"/>
                </a:solidFill>
              </a:defRPr>
            </a:pPr>
            <a:r>
              <a:t>6</a:t>
            </a:r>
          </a:p>
          <a:p>
            <a:pPr>
              <a:defRPr sz="1300">
                <a:solidFill>
                  <a:srgbClr val="23282D"/>
                </a:solidFill>
              </a:defRPr>
            </a:pPr>
            <a:r>
              <a:t>Servo moves the sorting mechanism toward the required section.</a:t>
            </a:r>
          </a:p>
        </p:txBody>
      </p:sp>
      <p:sp>
        <p:nvSpPr>
          <p:cNvPr id="11" name="Rounded Rectangle 10"/>
          <p:cNvSpPr/>
          <p:nvPr/>
        </p:nvSpPr>
        <p:spPr>
          <a:xfrm>
            <a:off x="6217920" y="3611880"/>
            <a:ext cx="5166360" cy="914400"/>
          </a:xfrm>
          <a:prstGeom prst="roundRect">
            <a:avLst/>
          </a:prstGeom>
          <a:solidFill>
            <a:srgbClr val="F2F6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lIns="164592" tIns="109728"/>
          <a:lstStyle/>
          <a:p>
            <a:pPr algn="ctr">
              <a:defRPr sz="1700" b="1">
                <a:solidFill>
                  <a:srgbClr val="132D4E"/>
                </a:solidFill>
              </a:defRPr>
            </a:pPr>
            <a:r>
              <a:t>7</a:t>
            </a:r>
          </a:p>
          <a:p>
            <a:pPr>
              <a:defRPr sz="1300">
                <a:solidFill>
                  <a:srgbClr val="23282D"/>
                </a:solidFill>
              </a:defRPr>
            </a:pPr>
            <a:r>
              <a:t>Parcel is directed to the correct destination.</a:t>
            </a:r>
          </a:p>
        </p:txBody>
      </p:sp>
      <p:sp>
        <p:nvSpPr>
          <p:cNvPr id="12" name="Rounded Rectangle 11"/>
          <p:cNvSpPr/>
          <p:nvPr/>
        </p:nvSpPr>
        <p:spPr>
          <a:xfrm>
            <a:off x="6217920" y="4754880"/>
            <a:ext cx="5166360" cy="914400"/>
          </a:xfrm>
          <a:prstGeom prst="roundRect">
            <a:avLst/>
          </a:prstGeom>
          <a:solidFill>
            <a:srgbClr val="F2F6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lIns="164592" tIns="109728"/>
          <a:lstStyle/>
          <a:p>
            <a:pPr algn="ctr">
              <a:defRPr sz="1700" b="1">
                <a:solidFill>
                  <a:srgbClr val="132D4E"/>
                </a:solidFill>
              </a:defRPr>
            </a:pPr>
            <a:r>
              <a:t>8</a:t>
            </a:r>
          </a:p>
          <a:p>
            <a:pPr>
              <a:defRPr sz="1300">
                <a:solidFill>
                  <a:srgbClr val="23282D"/>
                </a:solidFill>
              </a:defRPr>
            </a:pPr>
            <a:r>
              <a:t>Servo returns to the initial position.</a:t>
            </a:r>
          </a:p>
        </p:txBody>
      </p:sp>
      <p:sp>
        <p:nvSpPr>
          <p:cNvPr id="13" name="TextBox 12"/>
          <p:cNvSpPr txBox="1"/>
          <p:nvPr/>
        </p:nvSpPr>
        <p:spPr>
          <a:xfrm>
            <a:off x="594360" y="6446520"/>
            <a:ext cx="10972800" cy="228600"/>
          </a:xfrm>
          <a:prstGeom prst="rect">
            <a:avLst/>
          </a:prstGeom>
          <a:noFill/>
        </p:spPr>
        <p:txBody>
          <a:bodyPr wrap="none">
            <a:spAutoFit/>
          </a:bodyPr>
          <a:lstStyle/>
          <a:p>
            <a:pPr>
              <a:defRPr sz="900">
                <a:solidFill>
                  <a:srgbClr val="646C74"/>
                </a:solidFill>
              </a:defRPr>
            </a:pPr>
            <a:r>
              <a:t>CORECREW  |  EEE  |  PRODUCT SORTING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none">
            <a:spAutoFit/>
          </a:bodyPr>
          <a:lstStyle/>
          <a:p>
            <a:pPr>
              <a:defRPr sz="2800" b="1">
                <a:solidFill>
                  <a:srgbClr val="132D4E"/>
                </a:solidFill>
              </a:defRPr>
            </a:pPr>
            <a:r>
              <a:t>RFID MAPPING &amp; CONNECTION</a:t>
            </a:r>
          </a:p>
        </p:txBody>
      </p:sp>
      <p:sp>
        <p:nvSpPr>
          <p:cNvPr id="4" name="Rectangle 3"/>
          <p:cNvSpPr/>
          <p:nvPr/>
        </p:nvSpPr>
        <p:spPr>
          <a:xfrm>
            <a:off x="594360" y="987552"/>
            <a:ext cx="1828800" cy="64008"/>
          </a:xfrm>
          <a:prstGeom prst="rect">
            <a:avLst/>
          </a:prstGeom>
          <a:solidFill>
            <a:srgbClr val="246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1325880"/>
            <a:ext cx="5120640" cy="4480560"/>
          </a:xfrm>
          <a:prstGeom prst="roundRect">
            <a:avLst/>
          </a:prstGeom>
          <a:solidFill>
            <a:srgbClr val="F2F6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lIns="164592" tIns="109728"/>
          <a:lstStyle/>
          <a:p>
            <a:pPr algn="ctr">
              <a:defRPr sz="1700" b="1">
                <a:solidFill>
                  <a:srgbClr val="132D4E"/>
                </a:solidFill>
              </a:defRPr>
            </a:pPr>
            <a:r>
              <a:t>Destination Mapping</a:t>
            </a:r>
          </a:p>
          <a:p>
            <a:pPr>
              <a:defRPr sz="1300">
                <a:solidFill>
                  <a:srgbClr val="23282D"/>
                </a:solidFill>
              </a:defRPr>
            </a:pPr>
            <a:r>
              <a:t>Tag 1 → Erode → Position 1</a:t>
            </a:r>
            <a:br/>
            <a:r>
              <a:t>Tag 2 → Salem → Position 2</a:t>
            </a:r>
            <a:br/>
            <a:r>
              <a:t>Tag 3 → Coimbatore → Position 3</a:t>
            </a:r>
            <a:br/>
            <a:br/>
            <a:r>
              <a:t>Replace Tag 1/2/3 with the actual RFID UIDs used in the prototype.</a:t>
            </a:r>
          </a:p>
        </p:txBody>
      </p:sp>
      <p:sp>
        <p:nvSpPr>
          <p:cNvPr id="6" name="Rounded Rectangle 5"/>
          <p:cNvSpPr/>
          <p:nvPr/>
        </p:nvSpPr>
        <p:spPr>
          <a:xfrm>
            <a:off x="6126480" y="1325880"/>
            <a:ext cx="5349240" cy="4480560"/>
          </a:xfrm>
          <a:prstGeom prst="roundRect">
            <a:avLst/>
          </a:prstGeom>
          <a:solidFill>
            <a:srgbClr val="F2F6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lIns="164592" tIns="109728"/>
          <a:lstStyle/>
          <a:p>
            <a:pPr algn="ctr">
              <a:defRPr sz="1700" b="1">
                <a:solidFill>
                  <a:srgbClr val="132D4E"/>
                </a:solidFill>
              </a:defRPr>
            </a:pPr>
            <a:r>
              <a:t>RC522 → Arduino Uno</a:t>
            </a:r>
          </a:p>
          <a:p>
            <a:pPr>
              <a:defRPr sz="1300">
                <a:solidFill>
                  <a:srgbClr val="23282D"/>
                </a:solidFill>
              </a:defRPr>
            </a:pPr>
            <a:r>
              <a:t>SDA → D10</a:t>
            </a:r>
            <a:br/>
            <a:r>
              <a:t>SCK → D13</a:t>
            </a:r>
            <a:br/>
            <a:r>
              <a:t>MOSI → D11</a:t>
            </a:r>
            <a:br/>
            <a:r>
              <a:t>MISO → D12</a:t>
            </a:r>
            <a:br/>
            <a:r>
              <a:t>RST → D9</a:t>
            </a:r>
            <a:br/>
            <a:r>
              <a:t>GND → GND</a:t>
            </a:r>
            <a:br/>
            <a:r>
              <a:t>3.3V → 3.3V</a:t>
            </a:r>
            <a:br/>
            <a:br/>
            <a:r>
              <a:t>Servo Signal → D6</a:t>
            </a:r>
          </a:p>
        </p:txBody>
      </p:sp>
      <p:sp>
        <p:nvSpPr>
          <p:cNvPr id="7" name="TextBox 6"/>
          <p:cNvSpPr txBox="1"/>
          <p:nvPr/>
        </p:nvSpPr>
        <p:spPr>
          <a:xfrm>
            <a:off x="594360" y="6446520"/>
            <a:ext cx="10972800" cy="228600"/>
          </a:xfrm>
          <a:prstGeom prst="rect">
            <a:avLst/>
          </a:prstGeom>
          <a:noFill/>
        </p:spPr>
        <p:txBody>
          <a:bodyPr wrap="none">
            <a:spAutoFit/>
          </a:bodyPr>
          <a:lstStyle/>
          <a:p>
            <a:pPr>
              <a:defRPr sz="900">
                <a:solidFill>
                  <a:srgbClr val="646C74"/>
                </a:solidFill>
              </a:defRPr>
            </a:pPr>
            <a:r>
              <a:t>CORECREW  |  EEE  |  PRODUCT SORTING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none">
            <a:spAutoFit/>
          </a:bodyPr>
          <a:lstStyle/>
          <a:p>
            <a:pPr>
              <a:defRPr sz="2800" b="1">
                <a:solidFill>
                  <a:srgbClr val="132D4E"/>
                </a:solidFill>
              </a:defRPr>
            </a:pPr>
            <a:r>
              <a:t>PROTOTYPE, TESTING &amp; RESULT</a:t>
            </a:r>
          </a:p>
        </p:txBody>
      </p:sp>
      <p:sp>
        <p:nvSpPr>
          <p:cNvPr id="4" name="Rectangle 3"/>
          <p:cNvSpPr/>
          <p:nvPr/>
        </p:nvSpPr>
        <p:spPr>
          <a:xfrm>
            <a:off x="594360" y="987552"/>
            <a:ext cx="1828800" cy="64008"/>
          </a:xfrm>
          <a:prstGeom prst="rect">
            <a:avLst/>
          </a:prstGeom>
          <a:solidFill>
            <a:srgbClr val="246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1325880"/>
            <a:ext cx="3657600" cy="4480560"/>
          </a:xfrm>
          <a:prstGeom prst="roundRect">
            <a:avLst/>
          </a:prstGeom>
          <a:solidFill>
            <a:srgbClr val="F2F6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lIns="164592" tIns="109728"/>
          <a:lstStyle/>
          <a:p>
            <a:pPr algn="ctr">
              <a:defRPr sz="1700" b="1">
                <a:solidFill>
                  <a:srgbClr val="132D4E"/>
                </a:solidFill>
              </a:defRPr>
            </a:pPr>
            <a:r>
              <a:t>Prototype</a:t>
            </a:r>
          </a:p>
          <a:p>
            <a:pPr>
              <a:defRPr sz="1300">
                <a:solidFill>
                  <a:srgbClr val="23282D"/>
                </a:solidFill>
              </a:defRPr>
            </a:pPr>
            <a:r>
              <a:t>RFID Detection Unit</a:t>
            </a:r>
            <a:br/>
            <a:r>
              <a:t>↓</a:t>
            </a:r>
            <a:br/>
            <a:r>
              <a:t>Arduino Control Unit</a:t>
            </a:r>
            <a:br/>
            <a:r>
              <a:t>↓</a:t>
            </a:r>
            <a:br/>
            <a:r>
              <a:t>Servo Sorting Mechanism</a:t>
            </a:r>
            <a:br/>
            <a:r>
              <a:t>↓</a:t>
            </a:r>
            <a:br/>
            <a:r>
              <a:t>Destination Sections</a:t>
            </a:r>
            <a:br/>
            <a:br/>
            <a:r>
              <a:t>Add your actual prototype photographs here.</a:t>
            </a:r>
          </a:p>
        </p:txBody>
      </p:sp>
      <p:sp>
        <p:nvSpPr>
          <p:cNvPr id="6" name="Rounded Rectangle 5"/>
          <p:cNvSpPr/>
          <p:nvPr/>
        </p:nvSpPr>
        <p:spPr>
          <a:xfrm>
            <a:off x="4526280" y="1325880"/>
            <a:ext cx="3337560" cy="4480560"/>
          </a:xfrm>
          <a:prstGeom prst="roundRect">
            <a:avLst/>
          </a:prstGeom>
          <a:solidFill>
            <a:srgbClr val="F2F6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lIns="164592" tIns="109728"/>
          <a:lstStyle/>
          <a:p>
            <a:pPr algn="ctr">
              <a:defRPr sz="1700" b="1">
                <a:solidFill>
                  <a:srgbClr val="132D4E"/>
                </a:solidFill>
              </a:defRPr>
            </a:pPr>
            <a:r>
              <a:t>Testing</a:t>
            </a:r>
          </a:p>
          <a:p>
            <a:pPr>
              <a:defRPr sz="1300">
                <a:solidFill>
                  <a:srgbClr val="23282D"/>
                </a:solidFill>
              </a:defRPr>
            </a:pPr>
            <a:r>
              <a:t>Test 1: Erode</a:t>
            </a:r>
            <a:br/>
            <a:r>
              <a:t>Expected: Erode section</a:t>
            </a:r>
            <a:br/>
            <a:br/>
            <a:r>
              <a:t>Test 2: Salem</a:t>
            </a:r>
            <a:br/>
            <a:r>
              <a:t>Expected: Salem section</a:t>
            </a:r>
            <a:br/>
            <a:br/>
            <a:r>
              <a:t>Test 3: Coimbatore</a:t>
            </a:r>
            <a:br/>
            <a:r>
              <a:t>Expected: Coimbatore section</a:t>
            </a:r>
          </a:p>
        </p:txBody>
      </p:sp>
      <p:sp>
        <p:nvSpPr>
          <p:cNvPr id="7" name="Rounded Rectangle 6"/>
          <p:cNvSpPr/>
          <p:nvPr/>
        </p:nvSpPr>
        <p:spPr>
          <a:xfrm>
            <a:off x="8046720" y="1325880"/>
            <a:ext cx="3429000" cy="4480560"/>
          </a:xfrm>
          <a:prstGeom prst="roundRect">
            <a:avLst/>
          </a:prstGeom>
          <a:solidFill>
            <a:srgbClr val="F2F6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lIns="164592" tIns="109728"/>
          <a:lstStyle/>
          <a:p>
            <a:pPr algn="ctr">
              <a:defRPr sz="1700" b="1">
                <a:solidFill>
                  <a:srgbClr val="132D4E"/>
                </a:solidFill>
              </a:defRPr>
            </a:pPr>
            <a:r>
              <a:t>Result</a:t>
            </a:r>
          </a:p>
          <a:p>
            <a:pPr>
              <a:defRPr sz="1300">
                <a:solidFill>
                  <a:srgbClr val="23282D"/>
                </a:solidFill>
              </a:defRPr>
            </a:pPr>
            <a:r>
              <a:t>The prototype demonstrates automatic destination identification and servo-based parcel sorting according to the programmed RFID information.</a:t>
            </a:r>
            <a:br/>
            <a:br/>
            <a:r>
              <a:t>Use your actual test results and photographs before final submission.</a:t>
            </a:r>
          </a:p>
        </p:txBody>
      </p:sp>
      <p:sp>
        <p:nvSpPr>
          <p:cNvPr id="8" name="TextBox 7"/>
          <p:cNvSpPr txBox="1"/>
          <p:nvPr/>
        </p:nvSpPr>
        <p:spPr>
          <a:xfrm>
            <a:off x="594360" y="6446520"/>
            <a:ext cx="10972800" cy="228600"/>
          </a:xfrm>
          <a:prstGeom prst="rect">
            <a:avLst/>
          </a:prstGeom>
          <a:noFill/>
        </p:spPr>
        <p:txBody>
          <a:bodyPr wrap="none">
            <a:spAutoFit/>
          </a:bodyPr>
          <a:lstStyle/>
          <a:p>
            <a:pPr>
              <a:defRPr sz="900">
                <a:solidFill>
                  <a:srgbClr val="646C74"/>
                </a:solidFill>
              </a:defRPr>
            </a:pPr>
            <a:r>
              <a:t>CORECREW  |  EEE  |  PRODUCT SORTING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none">
            <a:spAutoFit/>
          </a:bodyPr>
          <a:lstStyle/>
          <a:p>
            <a:pPr>
              <a:defRPr sz="2800" b="1">
                <a:solidFill>
                  <a:srgbClr val="132D4E"/>
                </a:solidFill>
              </a:defRPr>
            </a:pPr>
            <a:r>
              <a:t>ADVANTAGES, APPLICATIONS &amp; FUTURE SCOPE</a:t>
            </a:r>
          </a:p>
        </p:txBody>
      </p:sp>
      <p:sp>
        <p:nvSpPr>
          <p:cNvPr id="4" name="Rectangle 3"/>
          <p:cNvSpPr/>
          <p:nvPr/>
        </p:nvSpPr>
        <p:spPr>
          <a:xfrm>
            <a:off x="594360" y="987552"/>
            <a:ext cx="1828800" cy="64008"/>
          </a:xfrm>
          <a:prstGeom prst="rect">
            <a:avLst/>
          </a:prstGeom>
          <a:solidFill>
            <a:srgbClr val="246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94360" y="1325880"/>
            <a:ext cx="3520440" cy="4526280"/>
          </a:xfrm>
          <a:prstGeom prst="roundRect">
            <a:avLst/>
          </a:prstGeom>
          <a:solidFill>
            <a:srgbClr val="F2F6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lIns="164592" tIns="109728"/>
          <a:lstStyle/>
          <a:p>
            <a:pPr algn="ctr">
              <a:defRPr sz="1700" b="1">
                <a:solidFill>
                  <a:srgbClr val="132D4E"/>
                </a:solidFill>
              </a:defRPr>
            </a:pPr>
            <a:r>
              <a:t>Advantages</a:t>
            </a:r>
          </a:p>
          <a:p>
            <a:pPr>
              <a:defRPr sz="1300">
                <a:solidFill>
                  <a:srgbClr val="23282D"/>
                </a:solidFill>
              </a:defRPr>
            </a:pPr>
            <a:r>
              <a:t>• Reduces manual effort</a:t>
            </a:r>
            <a:br/>
            <a:r>
              <a:t>• Reduces parcel mix-ups</a:t>
            </a:r>
            <a:br/>
            <a:r>
              <a:t>• Faster sorting</a:t>
            </a:r>
            <a:br/>
            <a:r>
              <a:t>• RFID-based identification</a:t>
            </a:r>
            <a:br/>
            <a:r>
              <a:t>• Low-cost prototype</a:t>
            </a:r>
            <a:br/>
            <a:r>
              <a:t>• Easy to operate</a:t>
            </a:r>
          </a:p>
        </p:txBody>
      </p:sp>
      <p:sp>
        <p:nvSpPr>
          <p:cNvPr id="6" name="Rounded Rectangle 5"/>
          <p:cNvSpPr/>
          <p:nvPr/>
        </p:nvSpPr>
        <p:spPr>
          <a:xfrm>
            <a:off x="4343400" y="1325880"/>
            <a:ext cx="3520440" cy="4526280"/>
          </a:xfrm>
          <a:prstGeom prst="roundRect">
            <a:avLst/>
          </a:prstGeom>
          <a:solidFill>
            <a:srgbClr val="F2F6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lIns="164592" tIns="109728"/>
          <a:lstStyle/>
          <a:p>
            <a:pPr algn="ctr">
              <a:defRPr sz="1700" b="1">
                <a:solidFill>
                  <a:srgbClr val="132D4E"/>
                </a:solidFill>
              </a:defRPr>
            </a:pPr>
            <a:r>
              <a:t>Applications</a:t>
            </a:r>
          </a:p>
          <a:p>
            <a:pPr>
              <a:defRPr sz="1300">
                <a:solidFill>
                  <a:srgbClr val="23282D"/>
                </a:solidFill>
              </a:defRPr>
            </a:pPr>
            <a:r>
              <a:t>• Courier &amp; logistics centers</a:t>
            </a:r>
            <a:br/>
            <a:r>
              <a:t>• Warehouses</a:t>
            </a:r>
            <a:br/>
            <a:r>
              <a:t>• E-commerce parcel handling</a:t>
            </a:r>
            <a:br/>
            <a:r>
              <a:t>• Distribution centers</a:t>
            </a:r>
            <a:br/>
            <a:r>
              <a:t>• Automated material handling</a:t>
            </a:r>
          </a:p>
        </p:txBody>
      </p:sp>
      <p:sp>
        <p:nvSpPr>
          <p:cNvPr id="7" name="Rounded Rectangle 6"/>
          <p:cNvSpPr/>
          <p:nvPr/>
        </p:nvSpPr>
        <p:spPr>
          <a:xfrm>
            <a:off x="8092440" y="1325880"/>
            <a:ext cx="3520440" cy="4526280"/>
          </a:xfrm>
          <a:prstGeom prst="roundRect">
            <a:avLst/>
          </a:prstGeom>
          <a:solidFill>
            <a:srgbClr val="F2F6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lIns="164592" tIns="109728"/>
          <a:lstStyle/>
          <a:p>
            <a:pPr algn="ctr">
              <a:defRPr sz="1700" b="1">
                <a:solidFill>
                  <a:srgbClr val="132D4E"/>
                </a:solidFill>
              </a:defRPr>
            </a:pPr>
            <a:r>
              <a:t>Future Scope</a:t>
            </a:r>
          </a:p>
          <a:p>
            <a:pPr>
              <a:defRPr sz="1300">
                <a:solidFill>
                  <a:srgbClr val="23282D"/>
                </a:solidFill>
              </a:defRPr>
            </a:pPr>
            <a:r>
              <a:t>• Conveyor automation</a:t>
            </a:r>
            <a:br/>
            <a:r>
              <a:t>• More destinations</a:t>
            </a:r>
            <a:br/>
            <a:r>
              <a:t>• LCD/OLED display</a:t>
            </a:r>
            <a:br/>
            <a:r>
              <a:t>• IoT-based tracking</a:t>
            </a:r>
            <a:br/>
            <a:r>
              <a:t>• Automatic parcel counting</a:t>
            </a:r>
            <a:br/>
            <a:r>
              <a:t>• Barcode/QR integration</a:t>
            </a:r>
          </a:p>
        </p:txBody>
      </p:sp>
      <p:sp>
        <p:nvSpPr>
          <p:cNvPr id="8" name="TextBox 7"/>
          <p:cNvSpPr txBox="1"/>
          <p:nvPr/>
        </p:nvSpPr>
        <p:spPr>
          <a:xfrm>
            <a:off x="594360" y="6446520"/>
            <a:ext cx="10972800" cy="228600"/>
          </a:xfrm>
          <a:prstGeom prst="rect">
            <a:avLst/>
          </a:prstGeom>
          <a:noFill/>
        </p:spPr>
        <p:txBody>
          <a:bodyPr wrap="none">
            <a:spAutoFit/>
          </a:bodyPr>
          <a:lstStyle/>
          <a:p>
            <a:pPr>
              <a:defRPr sz="900">
                <a:solidFill>
                  <a:srgbClr val="646C74"/>
                </a:solidFill>
              </a:defRPr>
            </a:pPr>
            <a:r>
              <a:t>CORECREW  |  EEE  |  PRODUCT SORTING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554480"/>
            <a:ext cx="10332720" cy="1188720"/>
          </a:xfrm>
          <a:prstGeom prst="rect">
            <a:avLst/>
          </a:prstGeom>
          <a:noFill/>
        </p:spPr>
        <p:txBody>
          <a:bodyPr wrap="none">
            <a:spAutoFit/>
          </a:bodyPr>
          <a:lstStyle/>
          <a:p>
            <a:pPr algn="ctr">
              <a:defRPr sz="4600" b="1">
                <a:solidFill>
                  <a:srgbClr val="FFFFFF"/>
                </a:solidFill>
              </a:defRPr>
            </a:pPr>
            <a:r>
              <a:t>THANK YOU</a:t>
            </a:r>
          </a:p>
        </p:txBody>
      </p:sp>
      <p:sp>
        <p:nvSpPr>
          <p:cNvPr id="4" name="TextBox 3"/>
          <p:cNvSpPr txBox="1"/>
          <p:nvPr/>
        </p:nvSpPr>
        <p:spPr>
          <a:xfrm>
            <a:off x="1371600" y="3017520"/>
            <a:ext cx="9418320" cy="1371600"/>
          </a:xfrm>
          <a:prstGeom prst="rect">
            <a:avLst/>
          </a:prstGeom>
          <a:noFill/>
        </p:spPr>
        <p:txBody>
          <a:bodyPr wrap="none">
            <a:spAutoFit/>
          </a:bodyPr>
          <a:lstStyle/>
          <a:p>
            <a:pPr algn="ctr">
              <a:defRPr sz="2600" b="1">
                <a:solidFill>
                  <a:srgbClr val="FFFFFF"/>
                </a:solidFill>
              </a:defRPr>
            </a:pPr>
            <a:r>
              <a:t>PRODUCT SORTING</a:t>
            </a:r>
          </a:p>
          <a:p>
            <a:pPr algn="ctr">
              <a:defRPr sz="1800">
                <a:solidFill>
                  <a:srgbClr val="D2E1F0"/>
                </a:solidFill>
              </a:defRPr>
            </a:pPr>
            <a:r>
              <a:t>Automatic Product Sorting System</a:t>
            </a:r>
          </a:p>
          <a:p>
            <a:pPr algn="ctr">
              <a:defRPr sz="1600">
                <a:solidFill>
                  <a:srgbClr val="FFFFFF"/>
                </a:solidFill>
              </a:defRPr>
            </a:pPr>
            <a:r>
              <a:t>TEAM CORECREW  |  EEE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